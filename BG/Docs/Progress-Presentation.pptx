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1463040"/>
            <a:ext cx="3840480" cy="3840480"/>
          </a:xfrm>
          <a:prstGeom prst="ellipse">
            <a:avLst/>
          </a:prstGeom>
          <a:solidFill>
            <a:srgbClr val="EFD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E7D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65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B6551E"/>
                </a:solidFill>
                <a:latin typeface="Consolas"/>
                <a:ea typeface="Consolas"/>
                <a:cs typeface="Consolas"/>
              </a:rPr>
              <a:t>8TH TEAM3 · FINAL PROJECT · BG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800" b="1" i="0">
                <a:solidFill>
                  <a:srgbClr val="221F1A"/>
                </a:solidFill>
                <a:latin typeface="맑은 고딕"/>
                <a:ea typeface="맑은 고딕"/>
                <a:cs typeface="맑은 고딕"/>
              </a:rPr>
              <a:t>BAAM 진행 발표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보드게임 《뱅!》 기반 TRPG 스타일 마피아 카드 게임 — 진행 상황 보고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434840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FC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1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UE 5.8 · GAS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96896" y="4434840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FC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1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리슨서버 · Steam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4434840"/>
            <a:ext cx="2016252" cy="384048"/>
          </a:xfrm>
          <a:prstGeom prst="roundRect">
            <a:avLst>
              <a:gd name="adj" fmla="val 50000"/>
            </a:avLst>
          </a:prstGeom>
          <a:solidFill>
            <a:srgbClr val="FC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1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PvP 4–7인 / PvE 싱글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1948" y="4434840"/>
            <a:ext cx="1344168" cy="384048"/>
          </a:xfrm>
          <a:prstGeom prst="roundRect">
            <a:avLst>
              <a:gd name="adj" fmla="val 50000"/>
            </a:avLst>
          </a:prstGeom>
          <a:solidFill>
            <a:srgbClr val="FC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1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2026-09-04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65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B6551E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221F1A"/>
                </a:solidFill>
                <a:latin typeface="맑은 고딕"/>
                <a:ea typeface="맑은 고딕"/>
                <a:cs typeface="맑은 고딕"/>
              </a:rPr>
              <a:t>프로젝트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《뱅!》의 역할 은닉·손패 전투 + 《포 더 킹》의 확률 판정·성장을 결합한 UE5·GAS 카드 게임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64208"/>
            <a:ext cx="10908792" cy="15240"/>
          </a:xfrm>
          <a:prstGeom prst="rect">
            <a:avLst/>
          </a:prstGeom>
          <a:solidFill>
            <a:srgbClr val="D2C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5778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350" b="1" i="0">
                <a:solidFill>
                  <a:srgbClr val="221F1A"/>
                </a:solidFill>
                <a:latin typeface="맑은 고딕"/>
                <a:ea typeface="맑은 고딕"/>
                <a:cs typeface="맑은 고딕"/>
              </a:rPr>
              <a:t>게임명  </a:t>
            </a:r>
            <a:r>
              <a:rPr sz="135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BAAM (코드/리포 접두사 BG)</a:t>
            </a:r>
          </a:p>
          <a:p>
            <a:pPr>
              <a:spcAft>
                <a:spcPts val="1600"/>
              </a:spcAft>
            </a:pPr>
            <a:r>
              <a:rPr sz="1350" b="1" i="0">
                <a:solidFill>
                  <a:srgbClr val="221F1A"/>
                </a:solidFill>
                <a:latin typeface="맑은 고딕"/>
                <a:ea typeface="맑은 고딕"/>
                <a:cs typeface="맑은 고딕"/>
              </a:rPr>
              <a:t>컨셉  </a:t>
            </a:r>
            <a:r>
              <a:rPr sz="135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《뱅!》 역할 은닉·손패 전투 구조 + 확률 기반 판정·성장 결합</a:t>
            </a:r>
          </a:p>
          <a:p>
            <a:pPr>
              <a:spcAft>
                <a:spcPts val="1600"/>
              </a:spcAft>
            </a:pPr>
            <a:r>
              <a:rPr sz="1350" b="1" i="0">
                <a:solidFill>
                  <a:srgbClr val="221F1A"/>
                </a:solidFill>
                <a:latin typeface="맑은 고딕"/>
                <a:ea typeface="맑은 고딕"/>
                <a:cs typeface="맑은 고딕"/>
              </a:rPr>
              <a:t>엔진/구조  </a:t>
            </a:r>
            <a:r>
              <a:rPr sz="135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Unreal Engine 5.8 · GAS · 리슨서버 멀티플레이(Steam)</a:t>
            </a:r>
          </a:p>
          <a:p>
            <a:pPr>
              <a:spcAft>
                <a:spcPts val="1600"/>
              </a:spcAft>
            </a:pPr>
            <a:r>
              <a:rPr sz="1350" b="1" i="0">
                <a:solidFill>
                  <a:srgbClr val="221F1A"/>
                </a:solidFill>
                <a:latin typeface="맑은 고딕"/>
                <a:ea typeface="맑은 고딕"/>
                <a:cs typeface="맑은 고딕"/>
              </a:rPr>
              <a:t>모드  </a:t>
            </a:r>
            <a:r>
              <a:rPr sz="135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PvP(4~7인, 기본) / PvE(싱글, 슬레이 더 스파이어식 진행)</a:t>
            </a:r>
          </a:p>
          <a:p>
            <a:pPr>
              <a:spcAft>
                <a:spcPts val="1600"/>
              </a:spcAft>
            </a:pPr>
            <a:r>
              <a:rPr sz="1350" b="1" i="0">
                <a:solidFill>
                  <a:srgbClr val="221F1A"/>
                </a:solidFill>
                <a:latin typeface="맑은 고딕"/>
                <a:ea typeface="맑은 고딕"/>
                <a:cs typeface="맑은 고딕"/>
              </a:rPr>
              <a:t>판정 권한  </a:t>
            </a:r>
            <a:r>
              <a:rPr sz="135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모든 판정은 서버 권위, 클라이언트는 예상 확률만 표시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20240"/>
            <a:ext cx="15240" cy="4023360"/>
          </a:xfrm>
          <a:prstGeom prst="rect">
            <a:avLst/>
          </a:prstGeom>
          <a:solidFill>
            <a:srgbClr val="D2C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92024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B6551E"/>
                </a:solidFill>
                <a:latin typeface="맑은 고딕"/>
                <a:ea typeface="맑은 고딕"/>
                <a:cs typeface="맑은 고딕"/>
              </a:rPr>
              <a:t>핵심 플레이 감각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331720"/>
            <a:ext cx="4846320" cy="658368"/>
          </a:xfrm>
          <a:prstGeom prst="roundRect">
            <a:avLst>
              <a:gd name="adj" fmla="val 9000"/>
            </a:avLst>
          </a:prstGeom>
          <a:solidFill>
            <a:srgbClr val="FCFAF4"/>
          </a:solidFill>
          <a:ln w="9525">
            <a:solidFill>
              <a:srgbClr val="D2CB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2404872"/>
            <a:ext cx="44805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8B5A2B"/>
                </a:solidFill>
                <a:latin typeface="맑은 고딕"/>
                <a:ea typeface="맑은 고딕"/>
                <a:cs typeface="맑은 고딕"/>
              </a:rPr>
              <a:t>추리   </a:t>
            </a:r>
            <a:r>
              <a:rPr sz="115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숨겨진 역할과 승리 조건으로 서로의 의도를 읽는다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3099816"/>
            <a:ext cx="4846320" cy="658368"/>
          </a:xfrm>
          <a:prstGeom prst="roundRect">
            <a:avLst>
              <a:gd name="adj" fmla="val 9000"/>
            </a:avLst>
          </a:prstGeom>
          <a:solidFill>
            <a:srgbClr val="FCFAF4"/>
          </a:solidFill>
          <a:ln w="9525">
            <a:solidFill>
              <a:srgbClr val="D2CB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3172968"/>
            <a:ext cx="44805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8B5A2B"/>
                </a:solidFill>
                <a:latin typeface="맑은 고딕"/>
                <a:ea typeface="맑은 고딕"/>
                <a:cs typeface="맑은 고딕"/>
              </a:rPr>
              <a:t>선택   </a:t>
            </a:r>
            <a:r>
              <a:rPr sz="115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턴당 카드 사용 한도(기본 2장) 안에서 우선순위를 정한다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3867912"/>
            <a:ext cx="4846320" cy="658368"/>
          </a:xfrm>
          <a:prstGeom prst="roundRect">
            <a:avLst>
              <a:gd name="adj" fmla="val 9000"/>
            </a:avLst>
          </a:prstGeom>
          <a:solidFill>
            <a:srgbClr val="FCFAF4"/>
          </a:solidFill>
          <a:ln w="9525">
            <a:solidFill>
              <a:srgbClr val="D2CB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3941064"/>
            <a:ext cx="44805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8B5A2B"/>
                </a:solidFill>
                <a:latin typeface="맑은 고딕"/>
                <a:ea typeface="맑은 고딕"/>
                <a:cs typeface="맑은 고딕"/>
              </a:rPr>
              <a:t>확률   </a:t>
            </a:r>
            <a:r>
              <a:rPr sz="115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갈색 카드는 전부 대실패·실패·성공·대성공으로 갈린다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4636008"/>
            <a:ext cx="4846320" cy="658368"/>
          </a:xfrm>
          <a:prstGeom prst="roundRect">
            <a:avLst>
              <a:gd name="adj" fmla="val 9000"/>
            </a:avLst>
          </a:prstGeom>
          <a:solidFill>
            <a:srgbClr val="FCFAF4"/>
          </a:solidFill>
          <a:ln w="9525">
            <a:solidFill>
              <a:srgbClr val="D2CB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4709160"/>
            <a:ext cx="44805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8B5A2B"/>
                </a:solidFill>
                <a:latin typeface="맑은 고딕"/>
                <a:ea typeface="맑은 고딕"/>
                <a:cs typeface="맑은 고딕"/>
              </a:rPr>
              <a:t>빌드   </a:t>
            </a:r>
            <a:r>
              <a:rPr sz="115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캐릭터·장비가 사용 한도와 성공률·대성공률을 바꾼다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5404104"/>
            <a:ext cx="4846320" cy="658368"/>
          </a:xfrm>
          <a:prstGeom prst="roundRect">
            <a:avLst>
              <a:gd name="adj" fmla="val 9000"/>
            </a:avLst>
          </a:prstGeom>
          <a:solidFill>
            <a:srgbClr val="FCFAF4"/>
          </a:solidFill>
          <a:ln w="9525">
            <a:solidFill>
              <a:srgbClr val="D2CB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5477256"/>
            <a:ext cx="44805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8B5A2B"/>
                </a:solidFill>
                <a:latin typeface="맑은 고딕"/>
                <a:ea typeface="맑은 고딕"/>
                <a:cs typeface="맑은 고딕"/>
              </a:rPr>
              <a:t>정보   </a:t>
            </a:r>
            <a:r>
              <a:rPr sz="115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공유 덱이라 남은 카드를 세면 상대의 다음 수가 보인다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8A8371"/>
                </a:solidFill>
                <a:latin typeface="Consolas"/>
                <a:ea typeface="Consolas"/>
                <a:cs typeface="Consolas"/>
              </a:rPr>
              <a:t>BAAM (BG) · 8th Team3 Final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A8371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65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B6551E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221F1A"/>
                </a:solidFill>
                <a:latin typeface="맑은 고딕"/>
                <a:ea typeface="맑은 고딕"/>
                <a:cs typeface="맑은 고딕"/>
              </a:rPr>
              <a:t>핵심 기술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카드·장비 시스템과 네트워크 판정을 떠받치는 두 축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64208"/>
            <a:ext cx="10908792" cy="15240"/>
          </a:xfrm>
          <a:prstGeom prst="rect">
            <a:avLst/>
          </a:prstGeom>
          <a:solidFill>
            <a:srgbClr val="D2C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5358384" cy="2514600"/>
          </a:xfrm>
          <a:prstGeom prst="roundRect">
            <a:avLst>
              <a:gd name="adj" fmla="val 5000"/>
            </a:avLst>
          </a:prstGeom>
          <a:solidFill>
            <a:srgbClr val="FCFAF4"/>
          </a:solidFill>
          <a:ln w="9525">
            <a:solidFill>
              <a:srgbClr val="D2CB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57984"/>
            <a:ext cx="4773168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B6551E"/>
                </a:solidFill>
                <a:latin typeface="Consolas"/>
                <a:ea typeface="Consolas"/>
                <a:cs typeface="Consolas"/>
              </a:rPr>
              <a:t>AXIS 1</a:t>
            </a:r>
          </a:p>
          <a:p>
            <a:pPr>
              <a:spcBef>
                <a:spcPts val="600"/>
              </a:spcBef>
            </a:pPr>
            <a:r>
              <a:rPr sz="2000" b="1" i="0">
                <a:solidFill>
                  <a:srgbClr val="221F1A"/>
                </a:solidFill>
                <a:latin typeface="맑은 고딕"/>
                <a:ea typeface="맑은 고딕"/>
                <a:cs typeface="맑은 고딕"/>
              </a:rPr>
              <a:t>GAS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카드·장비 시스템 전체를 GAS 위에서 표현한다.</a:t>
            </a:r>
          </a:p>
          <a:p>
            <a:pPr>
              <a:spcBef>
                <a:spcPts val="700"/>
              </a:spcBef>
            </a:pPr>
            <a:r>
              <a:rPr sz="1200" b="0" i="0">
                <a:solidFill>
                  <a:srgbClr val="8B5A2B"/>
                </a:solidFill>
                <a:latin typeface="맑은 고딕"/>
                <a:ea typeface="맑은 고딕"/>
                <a:cs typeface="맑은 고딕"/>
              </a:rPr>
              <a:t>·  카드 효과 → Gameplay Ability</a:t>
            </a:r>
          </a:p>
          <a:p>
            <a:pPr>
              <a:spcBef>
                <a:spcPts val="700"/>
              </a:spcBef>
            </a:pPr>
            <a:r>
              <a:rPr sz="1200" b="0" i="0">
                <a:solidFill>
                  <a:srgbClr val="8B5A2B"/>
                </a:solidFill>
                <a:latin typeface="맑은 고딕"/>
                <a:ea typeface="맑은 고딕"/>
                <a:cs typeface="맑은 고딕"/>
              </a:rPr>
              <a:t>·  장비 지속 효과 → Infinite Gameplay Effect</a:t>
            </a:r>
          </a:p>
          <a:p>
            <a:pPr>
              <a:spcBef>
                <a:spcPts val="700"/>
              </a:spcBef>
            </a:pPr>
            <a:r>
              <a:rPr sz="1200" b="0" i="0">
                <a:solidFill>
                  <a:srgbClr val="8B5A2B"/>
                </a:solidFill>
                <a:latin typeface="맑은 고딕"/>
                <a:ea typeface="맑은 고딕"/>
                <a:cs typeface="맑은 고딕"/>
              </a:rPr>
              <a:t>·  확률 보정 → AttributeSet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920240"/>
            <a:ext cx="5358384" cy="2514600"/>
          </a:xfrm>
          <a:prstGeom prst="roundRect">
            <a:avLst>
              <a:gd name="adj" fmla="val 5000"/>
            </a:avLst>
          </a:prstGeom>
          <a:solidFill>
            <a:srgbClr val="FCFAF4"/>
          </a:solidFill>
          <a:ln w="9525">
            <a:solidFill>
              <a:srgbClr val="D2CB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3096" y="2157984"/>
            <a:ext cx="4773168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B6551E"/>
                </a:solidFill>
                <a:latin typeface="Consolas"/>
                <a:ea typeface="Consolas"/>
                <a:cs typeface="Consolas"/>
              </a:rPr>
              <a:t>AXIS 2</a:t>
            </a:r>
          </a:p>
          <a:p>
            <a:pPr>
              <a:spcBef>
                <a:spcPts val="600"/>
              </a:spcBef>
            </a:pPr>
            <a:r>
              <a:rPr sz="2000" b="1" i="0">
                <a:solidFill>
                  <a:srgbClr val="221F1A"/>
                </a:solidFill>
                <a:latin typeface="맑은 고딕"/>
                <a:ea typeface="맑은 고딕"/>
                <a:cs typeface="맑은 고딕"/>
              </a:rPr>
              <a:t>멀티플레이 (Steam)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판정은 전부 서버 권위로 처리한다.</a:t>
            </a:r>
          </a:p>
          <a:p>
            <a:pPr>
              <a:spcBef>
                <a:spcPts val="700"/>
              </a:spcBef>
            </a:pPr>
            <a:r>
              <a:rPr sz="1200" b="0" i="0">
                <a:solidFill>
                  <a:srgbClr val="2C5C86"/>
                </a:solidFill>
                <a:latin typeface="맑은 고딕"/>
                <a:ea typeface="맑은 고딕"/>
                <a:cs typeface="맑은 고딕"/>
              </a:rPr>
              <a:t>·  클라이언트는 예상 확률만 미리 표시</a:t>
            </a:r>
          </a:p>
          <a:p>
            <a:pPr>
              <a:spcBef>
                <a:spcPts val="700"/>
              </a:spcBef>
            </a:pPr>
            <a:r>
              <a:rPr sz="1200" b="0" i="0">
                <a:solidFill>
                  <a:srgbClr val="2C5C86"/>
                </a:solidFill>
                <a:latin typeface="맑은 고딕"/>
                <a:ea typeface="맑은 고딕"/>
                <a:cs typeface="맑은 고딕"/>
              </a:rPr>
              <a:t>·  손패는 COND_OwnerOnly 로 복제</a:t>
            </a:r>
          </a:p>
          <a:p>
            <a:pPr>
              <a:spcBef>
                <a:spcPts val="700"/>
              </a:spcBef>
            </a:pPr>
            <a:r>
              <a:rPr sz="1200" b="0" i="0">
                <a:solidFill>
                  <a:srgbClr val="2C5C86"/>
                </a:solidFill>
                <a:latin typeface="맑은 고딕"/>
                <a:ea typeface="맑은 고딕"/>
                <a:cs typeface="맑은 고딕"/>
              </a:rPr>
              <a:t>·  셔플용 시드와 판정용 시드를 분리해 재현성 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5488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B6551E"/>
                </a:solidFill>
                <a:latin typeface="맑은 고딕"/>
                <a:ea typeface="맑은 고딕"/>
                <a:cs typeface="맑은 고딕"/>
              </a:rPr>
              <a:t>4단계 확률 판정 (뱅! 기준 예시)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138928"/>
            <a:ext cx="545439" cy="310896"/>
          </a:xfrm>
          <a:prstGeom prst="rect">
            <a:avLst/>
          </a:prstGeom>
          <a:solidFill>
            <a:srgbClr val="8A3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5519" y="5138928"/>
            <a:ext cx="2181758" cy="310896"/>
          </a:xfrm>
          <a:prstGeom prst="rect">
            <a:avLst/>
          </a:prstGeom>
          <a:solidFill>
            <a:srgbClr val="A69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7277" y="5138928"/>
            <a:ext cx="7090714" cy="310896"/>
          </a:xfrm>
          <a:prstGeom prst="rect">
            <a:avLst/>
          </a:prstGeom>
          <a:solidFill>
            <a:srgbClr val="4C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457991" y="5138928"/>
            <a:ext cx="1090879" cy="310896"/>
          </a:xfrm>
          <a:prstGeom prst="rect">
            <a:avLst/>
          </a:prstGeom>
          <a:solidFill>
            <a:srgbClr val="B65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5605272"/>
            <a:ext cx="146304" cy="146304"/>
          </a:xfrm>
          <a:prstGeom prst="rect">
            <a:avLst/>
          </a:prstGeom>
          <a:solidFill>
            <a:srgbClr val="8A3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577840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대실패 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71800" y="5605272"/>
            <a:ext cx="146304" cy="146304"/>
          </a:xfrm>
          <a:prstGeom prst="rect">
            <a:avLst/>
          </a:prstGeom>
          <a:solidFill>
            <a:srgbClr val="A69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91256" y="5577840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실패 20%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0" y="5605272"/>
            <a:ext cx="146304" cy="146304"/>
          </a:xfrm>
          <a:prstGeom prst="rect">
            <a:avLst/>
          </a:prstGeom>
          <a:solidFill>
            <a:srgbClr val="4C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22976" y="5577840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성공 65%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35240" y="5605272"/>
            <a:ext cx="146304" cy="146304"/>
          </a:xfrm>
          <a:prstGeom prst="rect">
            <a:avLst/>
          </a:prstGeom>
          <a:solidFill>
            <a:srgbClr val="B65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54696" y="5577840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대성공 10%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8A8371"/>
                </a:solidFill>
                <a:latin typeface="Consolas"/>
                <a:ea typeface="Consolas"/>
                <a:cs typeface="Consolas"/>
              </a:rPr>
              <a:t>BAAM (BG) · 8th Team3 Final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A8371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65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B6551E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221F1A"/>
                </a:solidFill>
                <a:latin typeface="맑은 고딕"/>
                <a:ea typeface="맑은 고딕"/>
                <a:cs typeface="맑은 고딕"/>
              </a:rPr>
              <a:t>《뱅!》과의 차별성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같은 규칙 위에서, PC · 디지털 환경만이 줄 수 있는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64208"/>
            <a:ext cx="10908792" cy="15240"/>
          </a:xfrm>
          <a:prstGeom prst="rect">
            <a:avLst/>
          </a:prstGeom>
          <a:solidFill>
            <a:srgbClr val="D2C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20240"/>
          <a:ext cx="10908792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434840"/>
                <a:gridCol w="4919472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127000" marT="63500" marB="63500">
                    <a:solidFill>
                      <a:srgbClr val="B65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원작 《뱅!》 (대면)</a:t>
                      </a:r>
                    </a:p>
                  </a:txBody>
                  <a:tcPr marL="127000" marT="63500" marB="63500">
                    <a:solidFill>
                      <a:srgbClr val="B65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BAAM (디지털)</a:t>
                      </a:r>
                    </a:p>
                  </a:txBody>
                  <a:tcPr marL="127000" marT="63500" marB="63500">
                    <a:solidFill>
                      <a:srgbClr val="B6551E"/>
                    </a:solidFill>
                  </a:tcPr>
                </a:tc>
              </a:tr>
              <a:tr h="107899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8B5A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연출</a:t>
                      </a:r>
                    </a:p>
                  </a:txBody>
                  <a:tcPr marL="127000" marR="127000" marT="114300" marB="114300">
                    <a:solidFill>
                      <a:srgbClr val="FC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5C57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카드를 내려놓는 것으로 끝나는 정적인 진행</a:t>
                      </a:r>
                    </a:p>
                  </a:txBody>
                  <a:tcPr marL="127000" marR="127000" marT="114300" marB="114300">
                    <a:solidFill>
                      <a:srgbClr val="FC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1F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시네마틱 카메라 · 포스트 프로세싱으로 공격·피격 연출을 확대한다</a:t>
                      </a:r>
                    </a:p>
                  </a:txBody>
                  <a:tcPr marL="127000" marR="127000" marT="114300" marB="114300">
                    <a:solidFill>
                      <a:srgbClr val="FCFAF4"/>
                    </a:solidFill>
                  </a:tcPr>
                </a:tc>
              </a:tr>
              <a:tr h="107899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8B5A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무작위성</a:t>
                      </a:r>
                    </a:p>
                  </a:txBody>
                  <a:tcPr marL="127000" marR="127000" marT="114300" marB="114300">
                    <a:solidFill>
                      <a:srgbClr val="F6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5C57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물리적 셔플과 수트 확인에 의존 — 표현할 수 있는 확률 구조에 한계가 있다</a:t>
                      </a:r>
                    </a:p>
                  </a:txBody>
                  <a:tcPr marL="127000" marR="127000" marT="114300" marB="114300">
                    <a:solidFill>
                      <a:srgbClr val="F6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1F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권위 난수로 4단계 확률 판정을 실시간 계산하고, 장비·직업 보정까지 즉시 반영한다</a:t>
                      </a:r>
                    </a:p>
                  </a:txBody>
                  <a:tcPr marL="127000" marR="127000" marT="114300" marB="114300">
                    <a:solidFill>
                      <a:srgbClr val="F6F3EA"/>
                    </a:solidFill>
                  </a:tcPr>
                </a:tc>
              </a:tr>
              <a:tr h="107899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8B5A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카드 생성</a:t>
                      </a:r>
                    </a:p>
                  </a:txBody>
                  <a:tcPr marL="127000" marR="127000" marT="114300" marB="114300">
                    <a:solidFill>
                      <a:srgbClr val="FC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5C574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인쇄된 카드가 전부 — 덱에 없는 카드는 절대 등장할 수 없다</a:t>
                      </a:r>
                    </a:p>
                  </a:txBody>
                  <a:tcPr marL="127000" marR="127000" marT="114300" marB="114300">
                    <a:solidFill>
                      <a:srgbClr val="FC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1F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규칙이 조건을 만족하면 카드를 즉석 생성해 지급한다 — 예: 암살자의 대성공 보상은 사용 한도를 소모하지 않고 쓰면 사라지는 1회성(Ephemeral) 카드</a:t>
                      </a:r>
                    </a:p>
                  </a:txBody>
                  <a:tcPr marL="127000" marR="127000" marT="114300" marB="114300">
                    <a:solidFill>
                      <a:srgbClr val="FCFAF4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815584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8A8371"/>
                </a:solidFill>
                <a:latin typeface="맑은 고딕"/>
                <a:ea typeface="맑은 고딕"/>
                <a:cs typeface="맑은 고딕"/>
              </a:rPr>
              <a:t>세 가지 모두 GAS · 서버 권위 구조가 있어야 성립하는 디지털 전용 설계다.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8A8371"/>
                </a:solidFill>
                <a:latin typeface="Consolas"/>
                <a:ea typeface="Consolas"/>
                <a:cs typeface="Consolas"/>
              </a:rPr>
              <a:t>BAAM (BG) · 8th Team3 Final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A8371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65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B6551E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221F1A"/>
                </a:solidFill>
                <a:latin typeface="맑은 고딕"/>
                <a:ea typeface="맑은 고딕"/>
                <a:cs typeface="맑은 고딕"/>
              </a:rPr>
              <a:t>지금까지 구현된 내용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핵심 시스템 — 로드맵 전체 우선순위(GDD §12) 대비 진행 상태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64208"/>
            <a:ext cx="10908792" cy="15240"/>
          </a:xfrm>
          <a:prstGeom prst="rect">
            <a:avLst/>
          </a:prstGeom>
          <a:solidFill>
            <a:srgbClr val="D2C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2651760" cy="566928"/>
          </a:xfrm>
          <a:prstGeom prst="roundRect">
            <a:avLst>
              <a:gd name="adj" fmla="val 12000"/>
            </a:avLst>
          </a:prstGeom>
          <a:solidFill>
            <a:srgbClr val="FCFAF4"/>
          </a:solidFill>
          <a:ln w="9525">
            <a:solidFill>
              <a:srgbClr val="D2CB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75104"/>
            <a:ext cx="23225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8B5A2B"/>
                </a:solidFill>
                <a:latin typeface="Consolas"/>
                <a:ea typeface="Consolas"/>
                <a:cs typeface="Consolas"/>
              </a:rPr>
              <a:t>P0  </a:t>
            </a:r>
            <a:r>
              <a:rPr sz="1200" b="0" i="0">
                <a:solidFill>
                  <a:srgbClr val="221F1A"/>
                </a:solidFill>
                <a:latin typeface="맑은 고딕"/>
                <a:ea typeface="맑은 고딕"/>
                <a:cs typeface="맑은 고딕"/>
              </a:rPr>
              <a:t>핵심 규칙</a:t>
            </a:r>
          </a:p>
          <a:p>
            <a:r>
              <a:rPr sz="1050" b="1" i="0">
                <a:solidFill>
                  <a:srgbClr val="3E7A49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920240"/>
            <a:ext cx="2651760" cy="566928"/>
          </a:xfrm>
          <a:prstGeom prst="roundRect">
            <a:avLst>
              <a:gd name="adj" fmla="val 12000"/>
            </a:avLst>
          </a:prstGeom>
          <a:solidFill>
            <a:srgbClr val="FCFAF4"/>
          </a:solidFill>
          <a:ln w="9525">
            <a:solidFill>
              <a:srgbClr val="D2CB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975104"/>
            <a:ext cx="23225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8B5A2B"/>
                </a:solidFill>
                <a:latin typeface="Consolas"/>
                <a:ea typeface="Consolas"/>
                <a:cs typeface="Consolas"/>
              </a:rPr>
              <a:t>P1  </a:t>
            </a:r>
            <a:r>
              <a:rPr sz="1200" b="0" i="0">
                <a:solidFill>
                  <a:srgbClr val="221F1A"/>
                </a:solidFill>
                <a:latin typeface="맑은 고딕"/>
                <a:ea typeface="맑은 고딕"/>
                <a:cs typeface="맑은 고딕"/>
              </a:rPr>
              <a:t>장비·빌드</a:t>
            </a:r>
          </a:p>
          <a:p>
            <a:r>
              <a:rPr sz="1050" b="1" i="0">
                <a:solidFill>
                  <a:srgbClr val="3E7A49"/>
                </a:solidFill>
                <a:latin typeface="맑은 고딕"/>
                <a:ea typeface="맑은 고딕"/>
                <a:cs typeface="맑은 고딕"/>
              </a:rPr>
              <a:t>대부분 완료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1920240"/>
            <a:ext cx="2651760" cy="566928"/>
          </a:xfrm>
          <a:prstGeom prst="roundRect">
            <a:avLst>
              <a:gd name="adj" fmla="val 12000"/>
            </a:avLst>
          </a:prstGeom>
          <a:solidFill>
            <a:srgbClr val="FCFAF4"/>
          </a:solidFill>
          <a:ln w="9525">
            <a:solidFill>
              <a:srgbClr val="D2CB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975104"/>
            <a:ext cx="23225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8B5A2B"/>
                </a:solidFill>
                <a:latin typeface="Consolas"/>
                <a:ea typeface="Consolas"/>
                <a:cs typeface="Consolas"/>
              </a:rPr>
              <a:t>P2  </a:t>
            </a:r>
            <a:r>
              <a:rPr sz="1200" b="0" i="0">
                <a:solidFill>
                  <a:srgbClr val="221F1A"/>
                </a:solidFill>
                <a:latin typeface="맑은 고딕"/>
                <a:ea typeface="맑은 고딕"/>
                <a:cs typeface="맑은 고딕"/>
              </a:rPr>
              <a:t>디지털 확장</a:t>
            </a:r>
          </a:p>
          <a:p>
            <a:r>
              <a:rPr sz="1050" b="1" i="0">
                <a:solidFill>
                  <a:srgbClr val="96751B"/>
                </a:solidFill>
                <a:latin typeface="맑은 고딕"/>
                <a:ea typeface="맑은 고딕"/>
                <a:cs typeface="맑은 고딕"/>
              </a:rPr>
              <a:t>진행 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24544" y="1920240"/>
            <a:ext cx="2651760" cy="566928"/>
          </a:xfrm>
          <a:prstGeom prst="roundRect">
            <a:avLst>
              <a:gd name="adj" fmla="val 12000"/>
            </a:avLst>
          </a:prstGeom>
          <a:solidFill>
            <a:srgbClr val="FCFAF4"/>
          </a:solidFill>
          <a:ln w="9525">
            <a:solidFill>
              <a:srgbClr val="D2CB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89136" y="1975104"/>
            <a:ext cx="23225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8B5A2B"/>
                </a:solidFill>
                <a:latin typeface="Consolas"/>
                <a:ea typeface="Consolas"/>
                <a:cs typeface="Consolas"/>
              </a:rPr>
              <a:t>P3  </a:t>
            </a:r>
            <a:r>
              <a:rPr sz="1200" b="0" i="0">
                <a:solidFill>
                  <a:srgbClr val="221F1A"/>
                </a:solidFill>
                <a:latin typeface="맑은 고딕"/>
                <a:ea typeface="맑은 고딕"/>
                <a:cs typeface="맑은 고딕"/>
              </a:rPr>
              <a:t>PvE 모드</a:t>
            </a:r>
          </a:p>
          <a:p>
            <a:r>
              <a:rPr sz="1050" b="1" i="0">
                <a:solidFill>
                  <a:srgbClr val="96751B"/>
                </a:solidFill>
                <a:latin typeface="맑은 고딕"/>
                <a:ea typeface="맑은 고딕"/>
                <a:cs typeface="맑은 고딕"/>
              </a:rPr>
              <a:t>진행 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670048"/>
            <a:ext cx="3529584" cy="1536192"/>
          </a:xfrm>
          <a:prstGeom prst="roundRect">
            <a:avLst>
              <a:gd name="adj" fmla="val 5000"/>
            </a:avLst>
          </a:prstGeom>
          <a:solidFill>
            <a:srgbClr val="FCFAF4"/>
          </a:solidFill>
          <a:ln w="9525">
            <a:solidFill>
              <a:srgbClr val="D2CB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798064"/>
            <a:ext cx="3163824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21F1A"/>
                </a:solidFill>
                <a:latin typeface="맑은 고딕"/>
                <a:ea typeface="맑은 고딕"/>
                <a:cs typeface="맑은 고딕"/>
              </a:rPr>
              <a:t>카드 판정 파이프라인</a:t>
            </a:r>
          </a:p>
          <a:p>
            <a:pPr>
              <a:spcBef>
                <a:spcPts val="400"/>
              </a:spcBef>
            </a:pPr>
            <a:r>
              <a:rPr sz="103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·  서버가 4단계 판정을 1회 굴려 처리</a:t>
            </a:r>
          </a:p>
          <a:p>
            <a:pPr>
              <a:spcBef>
                <a:spcPts val="400"/>
              </a:spcBef>
            </a:pPr>
            <a:r>
              <a:rPr sz="103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·  AbilityByCardId → UGA_BGCardEffects</a:t>
            </a:r>
          </a:p>
          <a:p>
            <a:pPr>
              <a:spcBef>
                <a:spcPts val="400"/>
              </a:spcBef>
            </a:pPr>
            <a:r>
              <a:rPr sz="103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·  BG_DumpDeck 으로 데이터·태그 일괄 검증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2670048"/>
            <a:ext cx="3529584" cy="1536192"/>
          </a:xfrm>
          <a:prstGeom prst="roundRect">
            <a:avLst>
              <a:gd name="adj" fmla="val 5000"/>
            </a:avLst>
          </a:prstGeom>
          <a:solidFill>
            <a:srgbClr val="FCFAF4"/>
          </a:solidFill>
          <a:ln w="9525">
            <a:solidFill>
              <a:srgbClr val="D2CB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798064"/>
            <a:ext cx="3163824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21F1A"/>
                </a:solidFill>
                <a:latin typeface="맑은 고딕"/>
                <a:ea typeface="맑은 고딕"/>
                <a:cs typeface="맑은 고딕"/>
              </a:rPr>
              <a:t>카드 데이터</a:t>
            </a:r>
          </a:p>
          <a:p>
            <a:pPr>
              <a:spcBef>
                <a:spcPts val="400"/>
              </a:spcBef>
            </a:pPr>
            <a:r>
              <a:rPr sz="103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·  총 64장 / 11종 (장비 3종 포함)</a:t>
            </a:r>
          </a:p>
          <a:p>
            <a:pPr>
              <a:spcBef>
                <a:spcPts val="400"/>
              </a:spcBef>
            </a:pPr>
            <a:r>
              <a:rPr sz="103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·  장비는 판정 없이 즉시 장착 처리</a:t>
            </a:r>
          </a:p>
          <a:p>
            <a:pPr>
              <a:spcBef>
                <a:spcPts val="400"/>
              </a:spcBef>
            </a:pPr>
            <a:r>
              <a:rPr sz="103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·  UI 상 장비/공격/마법 분류 통일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0" y="2670048"/>
            <a:ext cx="3529584" cy="1536192"/>
          </a:xfrm>
          <a:prstGeom prst="roundRect">
            <a:avLst>
              <a:gd name="adj" fmla="val 5000"/>
            </a:avLst>
          </a:prstGeom>
          <a:solidFill>
            <a:srgbClr val="FCFAF4"/>
          </a:solidFill>
          <a:ln w="9525">
            <a:solidFill>
              <a:srgbClr val="D2CB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2798064"/>
            <a:ext cx="3163824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21F1A"/>
                </a:solidFill>
                <a:latin typeface="맑은 고딕"/>
                <a:ea typeface="맑은 고딕"/>
                <a:cs typeface="맑은 고딕"/>
              </a:rPr>
              <a:t>GAS 기반 전투</a:t>
            </a:r>
          </a:p>
          <a:p>
            <a:pPr>
              <a:spcBef>
                <a:spcPts val="400"/>
              </a:spcBef>
            </a:pPr>
            <a:r>
              <a:rPr sz="103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·  UGA_BGCardEffects 단일 실행 경로</a:t>
            </a:r>
          </a:p>
          <a:p>
            <a:pPr>
              <a:spcBef>
                <a:spcPts val="400"/>
              </a:spcBef>
            </a:pPr>
            <a:r>
              <a:rPr sz="103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·  GE_BGDamage / GE_BGHeal / GE_BGEquip</a:t>
            </a:r>
          </a:p>
          <a:p>
            <a:pPr>
              <a:spcBef>
                <a:spcPts val="400"/>
              </a:spcBef>
            </a:pPr>
            <a:r>
              <a:rPr sz="103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·  사용 한도·확률 보정 어트리뷰트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334256"/>
            <a:ext cx="3529584" cy="1536192"/>
          </a:xfrm>
          <a:prstGeom prst="roundRect">
            <a:avLst>
              <a:gd name="adj" fmla="val 5000"/>
            </a:avLst>
          </a:prstGeom>
          <a:solidFill>
            <a:srgbClr val="FCFAF4"/>
          </a:solidFill>
          <a:ln w="9525">
            <a:solidFill>
              <a:srgbClr val="D2CB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462272"/>
            <a:ext cx="3163824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21F1A"/>
                </a:solidFill>
                <a:latin typeface="맑은 고딕"/>
                <a:ea typeface="맑은 고딕"/>
                <a:cs typeface="맑은 고딕"/>
              </a:rPr>
              <a:t>턴 · 로비 · 좌석</a:t>
            </a:r>
          </a:p>
          <a:p>
            <a:pPr>
              <a:spcBef>
                <a:spcPts val="400"/>
              </a:spcBef>
            </a:pPr>
            <a:r>
              <a:rPr sz="103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·  입장 순 배치 + 판 시작 랜덤 재배정</a:t>
            </a:r>
          </a:p>
          <a:p>
            <a:pPr>
              <a:spcBef>
                <a:spcPts val="400"/>
              </a:spcBef>
            </a:pPr>
            <a:r>
              <a:rPr sz="103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·  Ready / MatchStart 흐름</a:t>
            </a:r>
          </a:p>
          <a:p>
            <a:pPr>
              <a:spcBef>
                <a:spcPts val="400"/>
              </a:spcBef>
            </a:pPr>
            <a:r>
              <a:rPr sz="103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·  카드 사용 한도(기본 2장) 서버 권위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4334256"/>
            <a:ext cx="3529584" cy="1536192"/>
          </a:xfrm>
          <a:prstGeom prst="roundRect">
            <a:avLst>
              <a:gd name="adj" fmla="val 5000"/>
            </a:avLst>
          </a:prstGeom>
          <a:solidFill>
            <a:srgbClr val="FCFAF4"/>
          </a:solidFill>
          <a:ln w="9525">
            <a:solidFill>
              <a:srgbClr val="D2CB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4462272"/>
            <a:ext cx="3163824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21F1A"/>
                </a:solidFill>
                <a:latin typeface="맑은 고딕"/>
                <a:ea typeface="맑은 고딕"/>
                <a:cs typeface="맑은 고딕"/>
              </a:rPr>
              <a:t>네트워크 · 세션</a:t>
            </a:r>
          </a:p>
          <a:p>
            <a:pPr>
              <a:spcBef>
                <a:spcPts val="400"/>
              </a:spcBef>
            </a:pPr>
            <a:r>
              <a:rPr sz="103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·  Steam OSS 기반 세션 / 방 코드</a:t>
            </a:r>
          </a:p>
          <a:p>
            <a:pPr>
              <a:spcBef>
                <a:spcPts val="400"/>
              </a:spcBef>
            </a:pPr>
            <a:r>
              <a:rPr sz="103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·  손패 COND_OwnerOnly 복제</a:t>
            </a:r>
          </a:p>
          <a:p>
            <a:pPr>
              <a:spcBef>
                <a:spcPts val="400"/>
              </a:spcBef>
            </a:pPr>
            <a:r>
              <a:rPr sz="103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·  셔플·판정 시드 분리로 재현성 확보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80" y="4334256"/>
            <a:ext cx="3529584" cy="1536192"/>
          </a:xfrm>
          <a:prstGeom prst="roundRect">
            <a:avLst>
              <a:gd name="adj" fmla="val 5000"/>
            </a:avLst>
          </a:prstGeom>
          <a:solidFill>
            <a:srgbClr val="FCFAF4"/>
          </a:solidFill>
          <a:ln w="9525">
            <a:solidFill>
              <a:srgbClr val="D2CB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4462272"/>
            <a:ext cx="3163824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21F1A"/>
                </a:solidFill>
                <a:latin typeface="맑은 고딕"/>
                <a:ea typeface="맑은 고딕"/>
                <a:cs typeface="맑은 고딕"/>
              </a:rPr>
              <a:t>UI</a:t>
            </a:r>
          </a:p>
          <a:p>
            <a:pPr>
              <a:spcBef>
                <a:spcPts val="400"/>
              </a:spcBef>
            </a:pPr>
            <a:r>
              <a:rPr sz="103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·  View / Widget 계층 분리</a:t>
            </a:r>
          </a:p>
          <a:p>
            <a:pPr>
              <a:spcBef>
                <a:spcPts val="400"/>
              </a:spcBef>
            </a:pPr>
            <a:r>
              <a:rPr sz="103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·  드래그앤드롭 · 호버 확대 · 정보 툴팁</a:t>
            </a:r>
          </a:p>
          <a:p>
            <a:pPr>
              <a:spcBef>
                <a:spcPts val="400"/>
              </a:spcBef>
            </a:pPr>
            <a:r>
              <a:rPr sz="103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·  카드 프레임 글로우 · 디졸브 연출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8A8371"/>
                </a:solidFill>
                <a:latin typeface="Consolas"/>
                <a:ea typeface="Consolas"/>
                <a:cs typeface="Consolas"/>
              </a:rPr>
              <a:t>BAAM (BG) · 8th Team3 Final Project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A8371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65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B6551E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221F1A"/>
                </a:solidFill>
                <a:latin typeface="맑은 고딕"/>
                <a:ea typeface="맑은 고딕"/>
                <a:cs typeface="맑은 고딕"/>
              </a:rPr>
              <a:t>지금까지 구현된 내용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PvE 가 목표로 하는 형태와, 그에 따른 구현 진행도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64208"/>
            <a:ext cx="10908792" cy="15240"/>
          </a:xfrm>
          <a:prstGeom prst="rect">
            <a:avLst/>
          </a:prstGeom>
          <a:solidFill>
            <a:srgbClr val="D2C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B6551E"/>
                </a:solidFill>
                <a:latin typeface="맑은 고딕"/>
                <a:ea typeface="맑은 고딕"/>
                <a:cs typeface="맑은 고딕"/>
              </a:rPr>
              <a:t>목표 설계 — PvP 와 다른 점 (GDD §16.1)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304288"/>
          <a:ext cx="512063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874519"/>
                <a:gridCol w="219456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101600" marT="50800" marB="50800">
                    <a:solidFill>
                      <a:srgbClr val="B65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PvP</a:t>
                      </a:r>
                    </a:p>
                  </a:txBody>
                  <a:tcPr marL="101600" marT="50800" marB="50800">
                    <a:solidFill>
                      <a:srgbClr val="B65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PvE (목표)</a:t>
                      </a:r>
                    </a:p>
                  </a:txBody>
                  <a:tcPr marL="101600" marT="50800" marB="50800">
                    <a:solidFill>
                      <a:srgbClr val="B6551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8B5A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상대</a:t>
                      </a:r>
                    </a:p>
                  </a:txBody>
                  <a:tcPr marL="101600" marR="76200" marT="63500" marB="63500">
                    <a:solidFill>
                      <a:srgbClr val="FC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8A837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사람 4~7인</a:t>
                      </a:r>
                    </a:p>
                  </a:txBody>
                  <a:tcPr marL="101600" marR="76200" marT="63500" marB="63500">
                    <a:solidFill>
                      <a:srgbClr val="FC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221F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</a:t>
                      </a:r>
                    </a:p>
                  </a:txBody>
                  <a:tcPr marL="101600" marR="76200" marT="63500" marB="63500">
                    <a:solidFill>
                      <a:srgbClr val="FCFAF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8B5A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덱</a:t>
                      </a:r>
                    </a:p>
                  </a:txBody>
                  <a:tcPr marL="101600" marR="76200" marT="63500" marB="63500">
                    <a:solidFill>
                      <a:srgbClr val="F6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8A837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공용 64장</a:t>
                      </a:r>
                    </a:p>
                  </a:txBody>
                  <a:tcPr marL="101600" marR="76200" marT="63500" marB="63500">
                    <a:solidFill>
                      <a:srgbClr val="F6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221F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진영별로 더 적게 구성</a:t>
                      </a:r>
                    </a:p>
                  </a:txBody>
                  <a:tcPr marL="101600" marR="76200" marT="63500" marB="63500">
                    <a:solidFill>
                      <a:srgbClr val="F6F3E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8B5A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진행</a:t>
                      </a:r>
                    </a:p>
                  </a:txBody>
                  <a:tcPr marL="101600" marR="76200" marT="63500" marB="63500">
                    <a:solidFill>
                      <a:srgbClr val="FC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8A837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 판으로 끝</a:t>
                      </a:r>
                    </a:p>
                  </a:txBody>
                  <a:tcPr marL="101600" marR="76200" marT="63500" marB="63500">
                    <a:solidFill>
                      <a:srgbClr val="FC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221F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레벨을 이어서 진행</a:t>
                      </a:r>
                    </a:p>
                  </a:txBody>
                  <a:tcPr marL="101600" marR="76200" marT="63500" marB="63500">
                    <a:solidFill>
                      <a:srgbClr val="FCFAF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8B5A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성장</a:t>
                      </a:r>
                    </a:p>
                  </a:txBody>
                  <a:tcPr marL="101600" marR="76200" marT="63500" marB="63500">
                    <a:solidFill>
                      <a:srgbClr val="F6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8A837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 안에서 장비로만</a:t>
                      </a:r>
                    </a:p>
                  </a:txBody>
                  <a:tcPr marL="101600" marR="76200" marT="63500" marB="63500">
                    <a:solidFill>
                      <a:srgbClr val="F6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221F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레벨마다 새 카드를 덱에 추가</a:t>
                      </a:r>
                    </a:p>
                  </a:txBody>
                  <a:tcPr marL="101600" marR="76200" marT="63500" marB="63500">
                    <a:solidFill>
                      <a:srgbClr val="F6F3E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8B5A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난이도</a:t>
                      </a:r>
                    </a:p>
                  </a:txBody>
                  <a:tcPr marL="101600" marR="76200" marT="63500" marB="63500">
                    <a:solidFill>
                      <a:srgbClr val="FC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8A837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인원 구성으로 결정</a:t>
                      </a:r>
                    </a:p>
                  </a:txBody>
                  <a:tcPr marL="101600" marR="76200" marT="63500" marB="63500">
                    <a:solidFill>
                      <a:srgbClr val="FC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221F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 수 증가 또는 기본 장비 추가 장착</a:t>
                      </a:r>
                    </a:p>
                  </a:txBody>
                  <a:tcPr marL="101600" marR="76200" marT="63500" marB="63500">
                    <a:solidFill>
                      <a:srgbClr val="FCFAF4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650992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1">
                <a:solidFill>
                  <a:srgbClr val="8A8371"/>
                </a:solidFill>
                <a:latin typeface="맑은 고딕"/>
                <a:ea typeface="맑은 고딕"/>
                <a:cs typeface="맑은 고딕"/>
              </a:rPr>
              <a:t>새 게임 로직을 만들지 않고 기존 카드·장비 시스템을 재활용하는 것이 전제다.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6440" y="1920240"/>
            <a:ext cx="15240" cy="3931920"/>
          </a:xfrm>
          <a:prstGeom prst="rect">
            <a:avLst/>
          </a:prstGeom>
          <a:solidFill>
            <a:srgbClr val="D2C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920240"/>
            <a:ext cx="5513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B6551E"/>
                </a:solidFill>
                <a:latin typeface="맑은 고딕"/>
                <a:ea typeface="맑은 고딕"/>
                <a:cs typeface="맑은 고딕"/>
              </a:rPr>
              <a:t>구현 진행도 — PvE-Mode-Design.md §E9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07811" y="2459736"/>
            <a:ext cx="19050" cy="3017520"/>
          </a:xfrm>
          <a:prstGeom prst="rect">
            <a:avLst/>
          </a:prstGeom>
          <a:solidFill>
            <a:srgbClr val="D2C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48756" y="2391156"/>
            <a:ext cx="137160" cy="137160"/>
          </a:xfrm>
          <a:prstGeom prst="ellipse">
            <a:avLst/>
          </a:prstGeom>
          <a:solidFill>
            <a:srgbClr val="3E7A49"/>
          </a:solidFill>
          <a:ln w="19050">
            <a:solidFill>
              <a:srgbClr val="3E7A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2377440"/>
            <a:ext cx="52120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8A8371"/>
                </a:solidFill>
                <a:latin typeface="Consolas"/>
                <a:ea typeface="Consolas"/>
                <a:cs typeface="Consolas"/>
              </a:rPr>
              <a:t>E-0   </a:t>
            </a:r>
            <a:r>
              <a:rPr sz="1250" b="1" i="0">
                <a:solidFill>
                  <a:srgbClr val="221F1A"/>
                </a:solidFill>
                <a:latin typeface="맑은 고딕"/>
                <a:ea typeface="맑은 고딕"/>
                <a:cs typeface="맑은 고딕"/>
              </a:rPr>
              <a:t>봇 PC 스폰   </a:t>
            </a:r>
            <a:r>
              <a:rPr sz="1050" b="1" i="0">
                <a:solidFill>
                  <a:srgbClr val="3E7A49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  <a:p>
            <a:pPr>
              <a:spcBef>
                <a:spcPts val="200"/>
              </a:spcBef>
            </a:pPr>
            <a:r>
              <a:rPr sz="100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좌석 채우기 — 밧줄 만료로 봇 턴이 진행된다</a:t>
            </a:r>
          </a:p>
        </p:txBody>
      </p:sp>
      <p:sp>
        <p:nvSpPr>
          <p:cNvPr id="16" name="Oval 15"/>
          <p:cNvSpPr/>
          <p:nvPr/>
        </p:nvSpPr>
        <p:spPr>
          <a:xfrm>
            <a:off x="6048756" y="2994660"/>
            <a:ext cx="137160" cy="137160"/>
          </a:xfrm>
          <a:prstGeom prst="ellipse">
            <a:avLst/>
          </a:prstGeom>
          <a:solidFill>
            <a:srgbClr val="3E7A49"/>
          </a:solidFill>
          <a:ln w="19050">
            <a:solidFill>
              <a:srgbClr val="3E7A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2980944"/>
            <a:ext cx="52120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8A8371"/>
                </a:solidFill>
                <a:latin typeface="Consolas"/>
                <a:ea typeface="Consolas"/>
                <a:cs typeface="Consolas"/>
              </a:rPr>
              <a:t>E-1   </a:t>
            </a:r>
            <a:r>
              <a:rPr sz="1250" b="1" i="0">
                <a:solidFill>
                  <a:srgbClr val="221F1A"/>
                </a:solidFill>
                <a:latin typeface="맑은 고딕"/>
                <a:ea typeface="맑은 고딕"/>
                <a:cs typeface="맑은 고딕"/>
              </a:rPr>
              <a:t>역할·직업 고정 배정   </a:t>
            </a:r>
            <a:r>
              <a:rPr sz="1050" b="1" i="0">
                <a:solidFill>
                  <a:srgbClr val="3E7A49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  <a:p>
            <a:pPr>
              <a:spcBef>
                <a:spcPts val="200"/>
              </a:spcBef>
            </a:pPr>
            <a:r>
              <a:rPr sz="100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플레이어=보안관, 봇=무법자로 고정</a:t>
            </a:r>
          </a:p>
        </p:txBody>
      </p:sp>
      <p:sp>
        <p:nvSpPr>
          <p:cNvPr id="18" name="Oval 17"/>
          <p:cNvSpPr/>
          <p:nvPr/>
        </p:nvSpPr>
        <p:spPr>
          <a:xfrm>
            <a:off x="6048756" y="3598164"/>
            <a:ext cx="137160" cy="137160"/>
          </a:xfrm>
          <a:prstGeom prst="ellipse">
            <a:avLst/>
          </a:prstGeom>
          <a:solidFill>
            <a:srgbClr val="3E7A49"/>
          </a:solidFill>
          <a:ln w="19050">
            <a:solidFill>
              <a:srgbClr val="3E7A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3584448"/>
            <a:ext cx="52120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8A8371"/>
                </a:solidFill>
                <a:latin typeface="Consolas"/>
                <a:ea typeface="Consolas"/>
                <a:cs typeface="Consolas"/>
              </a:rPr>
              <a:t>E-2   </a:t>
            </a:r>
            <a:r>
              <a:rPr sz="1250" b="1" i="0">
                <a:solidFill>
                  <a:srgbClr val="221F1A"/>
                </a:solidFill>
                <a:latin typeface="맑은 고딕"/>
                <a:ea typeface="맑은 고딕"/>
                <a:cs typeface="맑은 고딕"/>
              </a:rPr>
              <a:t>AI 브레인   </a:t>
            </a:r>
            <a:r>
              <a:rPr sz="1050" b="1" i="0">
                <a:solidFill>
                  <a:srgbClr val="3E7A49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  <a:p>
            <a:pPr>
              <a:spcBef>
                <a:spcPts val="200"/>
              </a:spcBef>
            </a:pPr>
            <a:r>
              <a:rPr sz="100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밧줄 스킵 + 최소 대기 시간 규칙</a:t>
            </a:r>
          </a:p>
        </p:txBody>
      </p:sp>
      <p:sp>
        <p:nvSpPr>
          <p:cNvPr id="20" name="Oval 19"/>
          <p:cNvSpPr/>
          <p:nvPr/>
        </p:nvSpPr>
        <p:spPr>
          <a:xfrm>
            <a:off x="6048756" y="4201668"/>
            <a:ext cx="137160" cy="137160"/>
          </a:xfrm>
          <a:prstGeom prst="ellipse">
            <a:avLst/>
          </a:prstGeom>
          <a:solidFill>
            <a:srgbClr val="FCFAF4"/>
          </a:solidFill>
          <a:ln w="19050">
            <a:solidFill>
              <a:srgbClr val="9675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4187952"/>
            <a:ext cx="52120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8A8371"/>
                </a:solidFill>
                <a:latin typeface="Consolas"/>
                <a:ea typeface="Consolas"/>
                <a:cs typeface="Consolas"/>
              </a:rPr>
              <a:t>E-3   </a:t>
            </a:r>
            <a:r>
              <a:rPr sz="1250" b="1" i="0">
                <a:solidFill>
                  <a:srgbClr val="221F1A"/>
                </a:solidFill>
                <a:latin typeface="맑은 고딕"/>
                <a:ea typeface="맑은 고딕"/>
                <a:cs typeface="맑은 고딕"/>
              </a:rPr>
              <a:t>진영별 덱   </a:t>
            </a:r>
            <a:r>
              <a:rPr sz="1050" b="1" i="0">
                <a:solidFill>
                  <a:srgbClr val="96751B"/>
                </a:solidFill>
                <a:latin typeface="맑은 고딕"/>
                <a:ea typeface="맑은 고딕"/>
                <a:cs typeface="맑은 고딕"/>
              </a:rPr>
              <a:t>진행 중</a:t>
            </a:r>
          </a:p>
          <a:p>
            <a:pPr>
              <a:spcBef>
                <a:spcPts val="200"/>
              </a:spcBef>
            </a:pPr>
            <a:r>
              <a:rPr sz="100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데이터 연결·라우팅 완료, 실측 검증 남음</a:t>
            </a:r>
          </a:p>
        </p:txBody>
      </p:sp>
      <p:sp>
        <p:nvSpPr>
          <p:cNvPr id="22" name="Oval 21"/>
          <p:cNvSpPr/>
          <p:nvPr/>
        </p:nvSpPr>
        <p:spPr>
          <a:xfrm>
            <a:off x="6048756" y="4805172"/>
            <a:ext cx="137160" cy="137160"/>
          </a:xfrm>
          <a:prstGeom prst="ellipse">
            <a:avLst/>
          </a:prstGeom>
          <a:solidFill>
            <a:srgbClr val="FCFAF4"/>
          </a:solidFill>
          <a:ln w="19050">
            <a:solidFill>
              <a:srgbClr val="9675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4791456"/>
            <a:ext cx="52120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8A8371"/>
                </a:solidFill>
                <a:latin typeface="Consolas"/>
                <a:ea typeface="Consolas"/>
                <a:cs typeface="Consolas"/>
              </a:rPr>
              <a:t>E-4   </a:t>
            </a:r>
            <a:r>
              <a:rPr sz="1250" b="1" i="0">
                <a:solidFill>
                  <a:srgbClr val="221F1A"/>
                </a:solidFill>
                <a:latin typeface="맑은 고딕"/>
                <a:ea typeface="맑은 고딕"/>
                <a:cs typeface="맑은 고딕"/>
              </a:rPr>
              <a:t>조우 리셋 + 보상   </a:t>
            </a:r>
            <a:r>
              <a:rPr sz="1050" b="1" i="0">
                <a:solidFill>
                  <a:srgbClr val="96751B"/>
                </a:solidFill>
                <a:latin typeface="맑은 고딕"/>
                <a:ea typeface="맑은 고딕"/>
                <a:cs typeface="맑은 고딕"/>
              </a:rPr>
              <a:t>진행 중</a:t>
            </a:r>
          </a:p>
          <a:p>
            <a:pPr>
              <a:spcBef>
                <a:spcPts val="200"/>
              </a:spcBef>
            </a:pPr>
            <a:r>
              <a:rPr sz="100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보상·좌석 스케일링 연결, 연속 진행 검증 남음</a:t>
            </a:r>
          </a:p>
        </p:txBody>
      </p:sp>
      <p:sp>
        <p:nvSpPr>
          <p:cNvPr id="24" name="Oval 23"/>
          <p:cNvSpPr/>
          <p:nvPr/>
        </p:nvSpPr>
        <p:spPr>
          <a:xfrm>
            <a:off x="6048756" y="5408676"/>
            <a:ext cx="137160" cy="137160"/>
          </a:xfrm>
          <a:prstGeom prst="ellipse">
            <a:avLst/>
          </a:prstGeom>
          <a:solidFill>
            <a:srgbClr val="FCFAF4"/>
          </a:solidFill>
          <a:ln w="19050">
            <a:solidFill>
              <a:srgbClr val="8A83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792" y="5394960"/>
            <a:ext cx="52120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8A8371"/>
                </a:solidFill>
                <a:latin typeface="Consolas"/>
                <a:ea typeface="Consolas"/>
                <a:cs typeface="Consolas"/>
              </a:rPr>
              <a:t>E-5   </a:t>
            </a:r>
            <a:r>
              <a:rPr sz="1250" b="1" i="0">
                <a:solidFill>
                  <a:srgbClr val="221F1A"/>
                </a:solidFill>
                <a:latin typeface="맑은 고딕"/>
                <a:ea typeface="맑은 고딕"/>
                <a:cs typeface="맑은 고딕"/>
              </a:rPr>
              <a:t>적 장비·직업 배분   </a:t>
            </a:r>
            <a:r>
              <a:rPr sz="1050" b="1" i="0">
                <a:solidFill>
                  <a:srgbClr val="8A8371"/>
                </a:solidFill>
                <a:latin typeface="맑은 고딕"/>
                <a:ea typeface="맑은 고딕"/>
                <a:cs typeface="맑은 고딕"/>
              </a:rPr>
              <a:t>미착수</a:t>
            </a:r>
          </a:p>
          <a:p>
            <a:pPr>
              <a:spcBef>
                <a:spcPts val="200"/>
              </a:spcBef>
            </a:pPr>
            <a:r>
              <a:rPr sz="100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난이도 곡선의 마지막 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8A8371"/>
                </a:solidFill>
                <a:latin typeface="Consolas"/>
                <a:ea typeface="Consolas"/>
                <a:cs typeface="Consolas"/>
              </a:rPr>
              <a:t>BAAM (BG) · 8th Team3 Final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A8371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65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B6551E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221F1A"/>
                </a:solidFill>
                <a:latin typeface="맑은 고딕"/>
                <a:ea typeface="맑은 고딕"/>
                <a:cs typeface="맑은 고딕"/>
              </a:rPr>
              <a:t>남은 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5C5747"/>
                </a:solidFill>
                <a:latin typeface="맑은 고딕"/>
                <a:ea typeface="맑은 고딕"/>
                <a:cs typeface="맑은 고딕"/>
              </a:rPr>
              <a:t>다음 발표까지 처리할 항목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64208"/>
            <a:ext cx="10908792" cy="15240"/>
          </a:xfrm>
          <a:prstGeom prst="rect">
            <a:avLst/>
          </a:prstGeom>
          <a:solidFill>
            <a:srgbClr val="D2C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640080" y="2103120"/>
            <a:ext cx="128016" cy="128016"/>
          </a:xfrm>
          <a:prstGeom prst="diamond">
            <a:avLst/>
          </a:prstGeom>
          <a:solidFill>
            <a:srgbClr val="B65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105613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0" i="0">
                <a:solidFill>
                  <a:srgbClr val="221F1A"/>
                </a:solidFill>
                <a:latin typeface="맑은 고딕"/>
                <a:ea typeface="맑은 고딕"/>
                <a:cs typeface="맑은 고딕"/>
              </a:rPr>
              <a:t>Legacy GA 9종은 의도적 비활성 — 정식 실행 경로는 UGA_BGCardEffects + OutcomeEffects 하나뿐. 호출 경로만 끊고 코드는 보존한다.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15184"/>
            <a:ext cx="10927080" cy="11430"/>
          </a:xfrm>
          <a:prstGeom prst="rect">
            <a:avLst/>
          </a:prstGeom>
          <a:solidFill>
            <a:srgbClr val="D2C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amond 10"/>
          <p:cNvSpPr/>
          <p:nvPr/>
        </p:nvSpPr>
        <p:spPr>
          <a:xfrm>
            <a:off x="640080" y="2761488"/>
            <a:ext cx="128016" cy="128016"/>
          </a:xfrm>
          <a:prstGeom prst="diamond">
            <a:avLst/>
          </a:prstGeom>
          <a:solidFill>
            <a:srgbClr val="B65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105613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0" i="0">
                <a:solidFill>
                  <a:srgbClr val="221F1A"/>
                </a:solidFill>
                <a:latin typeface="맑은 고딕"/>
                <a:ea typeface="맑은 고딕"/>
                <a:cs typeface="맑은 고딕"/>
              </a:rPr>
              <a:t>PvE 밸런스 실측 — 런 길이, 실패 시 처리, 중간 저장은 아직 미결정 (§E10).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73552"/>
            <a:ext cx="10927080" cy="11430"/>
          </a:xfrm>
          <a:prstGeom prst="rect">
            <a:avLst/>
          </a:prstGeom>
          <a:solidFill>
            <a:srgbClr val="D2C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iamond 13"/>
          <p:cNvSpPr/>
          <p:nvPr/>
        </p:nvSpPr>
        <p:spPr>
          <a:xfrm>
            <a:off x="640080" y="3419856"/>
            <a:ext cx="128016" cy="128016"/>
          </a:xfrm>
          <a:prstGeom prst="diamond">
            <a:avLst/>
          </a:prstGeom>
          <a:solidFill>
            <a:srgbClr val="B65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328416"/>
            <a:ext cx="105613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0" i="0">
                <a:solidFill>
                  <a:srgbClr val="221F1A"/>
                </a:solidFill>
                <a:latin typeface="맑은 고딕"/>
                <a:ea typeface="맑은 고딕"/>
                <a:cs typeface="맑은 고딕"/>
              </a:rPr>
              <a:t>적 장비·직업 배분(E-5) 착수 필요 — 난이도 곡선의 마지막 축.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931920"/>
            <a:ext cx="10927080" cy="11430"/>
          </a:xfrm>
          <a:prstGeom prst="rect">
            <a:avLst/>
          </a:prstGeom>
          <a:solidFill>
            <a:srgbClr val="D2C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640080" y="4078224"/>
            <a:ext cx="128016" cy="128016"/>
          </a:xfrm>
          <a:prstGeom prst="diamond">
            <a:avLst/>
          </a:prstGeom>
          <a:solidFill>
            <a:srgbClr val="B65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986784"/>
            <a:ext cx="105613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0" i="0">
                <a:solidFill>
                  <a:srgbClr val="221F1A"/>
                </a:solidFill>
                <a:latin typeface="맑은 고딕"/>
                <a:ea typeface="맑은 고딕"/>
                <a:cs typeface="맑은 고딕"/>
              </a:rPr>
              <a:t>장비·직업 보정 축(공격/회복/드로우 보정)은 설계상 확정이나 아직 어트리뷰트 미구현.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590288"/>
            <a:ext cx="10927080" cy="11430"/>
          </a:xfrm>
          <a:prstGeom prst="rect">
            <a:avLst/>
          </a:prstGeom>
          <a:solidFill>
            <a:srgbClr val="D2C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640080" y="4736592"/>
            <a:ext cx="128016" cy="128016"/>
          </a:xfrm>
          <a:prstGeom prst="diamond">
            <a:avLst/>
          </a:prstGeom>
          <a:solidFill>
            <a:srgbClr val="B65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645152"/>
            <a:ext cx="105613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0" i="0">
                <a:solidFill>
                  <a:srgbClr val="221F1A"/>
                </a:solidFill>
                <a:latin typeface="맑은 고딕"/>
                <a:ea typeface="맑은 고딕"/>
                <a:cs typeface="맑은 고딕"/>
              </a:rPr>
              <a:t>캐릭터 모델링 전체 교체 — 현재 일부(수도사·마법사 등)만 정식 모델로 전환됨.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248656"/>
            <a:ext cx="10927080" cy="11430"/>
          </a:xfrm>
          <a:prstGeom prst="rect">
            <a:avLst/>
          </a:prstGeom>
          <a:solidFill>
            <a:srgbClr val="D2C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640080" y="5394960"/>
            <a:ext cx="128016" cy="128016"/>
          </a:xfrm>
          <a:prstGeom prst="diamond">
            <a:avLst/>
          </a:prstGeom>
          <a:solidFill>
            <a:srgbClr val="B65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303520"/>
            <a:ext cx="105613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0" i="0">
                <a:solidFill>
                  <a:srgbClr val="221F1A"/>
                </a:solidFill>
                <a:latin typeface="맑은 고딕"/>
                <a:ea typeface="맑은 고딕"/>
                <a:cs typeface="맑은 고딕"/>
              </a:rPr>
              <a:t>시네마틱 연출 확대 — 카드 프레임 글로우·디졸브 리팩터는 완료, 전투 연출 확장은 지속 작업.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8A8371"/>
                </a:solidFill>
                <a:latin typeface="Consolas"/>
                <a:ea typeface="Consolas"/>
                <a:cs typeface="Consolas"/>
              </a:rPr>
              <a:t>BAAM (BG) · 8th Team3 Final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A8371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463040"/>
            <a:ext cx="4206240" cy="4206240"/>
          </a:xfrm>
          <a:prstGeom prst="ellipse">
            <a:avLst/>
          </a:prstGeom>
          <a:solidFill>
            <a:srgbClr val="EFD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65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31720"/>
            <a:ext cx="96926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2400" b="1" i="0">
                <a:solidFill>
                  <a:srgbClr val="221F1A"/>
                </a:solidFill>
                <a:latin typeface="맑은 고딕"/>
                <a:ea typeface="맑은 고딕"/>
                <a:cs typeface="맑은 고딕"/>
              </a:rPr>
              <a:t>“숨겨진 역할로 심리전을 벌이는 카드 게임 《뱅!》을,
서버 권위 확률 판정과 GAS 기반 빌드,
그리고 시네마틱 연출로 온라인 PC 게임에 맞게
다시 설계하는 프로젝트.”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343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8A8371"/>
                </a:solidFill>
                <a:latin typeface="Consolas"/>
                <a:ea typeface="Consolas"/>
                <a:cs typeface="Consolas"/>
              </a:rPr>
              <a:t>BAAM (BG) · 8th Team3 Final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85216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B6551E"/>
                </a:solidFill>
                <a:latin typeface="맑은 고딕"/>
                <a:ea typeface="맑은 고딕"/>
                <a:cs typeface="맑은 고딕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