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세계관" id="{7ad3f127-d620-14db-995e-fc43f02c3c1d}">
          <p14:sldIdLst>
            <p14:sldId id="257"/>
            <p14:sldId id="258"/>
          </p14:sldIdLst>
        </p14:section>
        <p14:section name="게임 소개" id="{19e86b62-c056-0e16-21a0-65ce6a82f626}">
          <p14:sldIdLst>
            <p14:sldId id="259"/>
            <p14:sldId id="260"/>
            <p14:sldId id="261"/>
          </p14:sldIdLst>
        </p14:section>
        <p14:section name="모드" id="{8e27b922-4393-3b4e-f688-1aceeb5cbe42}">
          <p14:sldIdLst>
            <p14:sldId id="262"/>
            <p14:sldId id="263"/>
            <p14:sldId id="264"/>
            <p14:sldId id="265"/>
          </p14:sldIdLst>
        </p14:section>
        <p14:section name="팀" id="{3e5f25bf-2582-6646-e67e-59174d39490e}">
          <p14:sldIdLst>
            <p14:sldId id="266"/>
          </p14:sldIdLst>
        </p14:section>
        <p14:section name="Default-1" id="{e70cd245-39f0-62aa-2072-01bce29c0916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발표일·발표자명을 입력하세요. 모닥불 아이콘은 이 덱 전체의 반복 모티프입니다.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우측 카드에 실제 컨셉아트/스크린샷 이미지를 넣어주세요.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 팀원 수에 맞춰 카드를 추가/삭제하세요. 현재 5명 슬롯입니다.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빌드/플레이 영상 링크가 생기면 채워주세요.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C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514600"/>
            <a:ext cx="89611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제목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85953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부제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6126480"/>
            <a:ext cx="89611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rgbClr val="9B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r>
              <a:rPr lang="en-US" sz="1200" dirty="0">
                <a:solidFill>
                  <a:srgbClr val="9B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footer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1C12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D97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D97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960120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섹션 제목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5E4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제목</a:t>
            </a: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10149840" y="50292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9A9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BAAM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BB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5E4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514600"/>
            <a:ext cx="896112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BAAM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8595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숨은 배신자를 찾아라 — 역할 추리 카드 게임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6126480"/>
            <a:ext cx="89611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dirty="0">
                <a:solidFill>
                  <a:srgbClr val="9B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8th Team3 Final Project  ·  [발표일]  ·  [발표자명]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052560" y="1005840"/>
            <a:ext cx="2743200" cy="2743200"/>
          </a:xfrm>
          <a:prstGeom prst="ellipse">
            <a:avLst/>
          </a:prstGeom>
          <a:solidFill>
            <a:srgbClr val="D9731E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1600200"/>
            <a:ext cx="1554480" cy="1554480"/>
          </a:xfrm>
          <a:prstGeom prst="ellipse">
            <a:avLst/>
          </a:prstGeom>
          <a:solidFill>
            <a:srgbClr val="D9731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1911096"/>
            <a:ext cx="932688" cy="93268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96012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세계관 — 용사 일행 속에 숨은 마왕군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5E4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하나의 모닥불, 둘로 갈린 믿음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왕의 명을 받은 용사, 비밀리에 동료를 모아 마왕 토벌을 떠난다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여관에서 쉬던 중 동료 모집 소식이 새어나가, 일행 중 마왕군 첩자가 있다는 사실이 드러난다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직후 마왕군의 기습 — 가까스로 막아내지만, 배신자는 여전히 일행 안에 있다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용사는 동료를 믿으면서도 그 안의 배신자를 찾아내야 한다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92240" y="1600200"/>
            <a:ext cx="5074920" cy="4206240"/>
          </a:xfrm>
          <a:prstGeom prst="roundRect">
            <a:avLst>
              <a:gd name="adj" fmla="val 1739"/>
            </a:avLst>
          </a:prstGeom>
          <a:solidFill>
            <a:srgbClr val="EADFC8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92240" y="3429000"/>
            <a:ext cx="5074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7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컨셉아트 / 모닥불 원형 배치 스크린샷 ]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492240" y="5440680"/>
            <a:ext cx="5074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로우폴리 중세 판타지 — 모닥불을 중심으로 둘러앉는 좌석 구조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BB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96012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게임 소개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5E4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뱅!의 심리전 + 포더킹의 진행감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보드게임 《뱅!》의 역할 은닉 구조에 《포 더 킹》의 확률 판정과 성장 감각을 더한 PC 턴제 카드 게임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25420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83464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4~7인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840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PvP 대결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456432" y="2331720"/>
            <a:ext cx="25420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56432" y="283464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11종 · 64장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456432" y="3840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데이터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72784" y="2331720"/>
            <a:ext cx="25420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6272784" y="283464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4단계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272784" y="3840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확률 판정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9089136" y="2331720"/>
            <a:ext cx="2542032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089136" y="2834640"/>
            <a:ext cx="254203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97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PvP + PvE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089136" y="384048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모드 구성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BB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핵심 플레이 루프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72768"/>
            <a:ext cx="713232" cy="713232"/>
          </a:xfrm>
          <a:prstGeom prst="ellipse">
            <a:avLst/>
          </a:prstGeom>
          <a:solidFill>
            <a:srgbClr val="D9731E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6991" y="1729679"/>
            <a:ext cx="399410" cy="39941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600200" y="150876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역할 추리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4480560" y="150876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숨겨진 역할(보안관·부관·무법자·배신자)을 두고 서로의 의도를 추리한다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32888"/>
            <a:ext cx="713232" cy="713232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991" y="2689799"/>
            <a:ext cx="399410" cy="39941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46888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확률 판정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4480560" y="246888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카드를 쓰면 서버가 대실패~대성공 4단계를 1회 굴려 결과를 정한다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493008"/>
            <a:ext cx="713232" cy="713232"/>
          </a:xfrm>
          <a:prstGeom prst="ellipse">
            <a:avLst/>
          </a:prstGeom>
          <a:solidFill>
            <a:srgbClr val="3C5A6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91" y="3649919"/>
            <a:ext cx="399410" cy="39941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3429000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빌드 구성</a:t>
            </a:r>
            <a:endParaRPr lang="en-US" sz="1800" dirty="0"/>
          </a:p>
        </p:txBody>
      </p:sp>
      <p:sp>
        <p:nvSpPr>
          <p:cNvPr id="14" name="Text 9"/>
          <p:cNvSpPr txBox="1"/>
          <p:nvPr/>
        </p:nvSpPr>
        <p:spPr>
          <a:xfrm>
            <a:off x="4480560" y="3429000"/>
            <a:ext cx="7040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장비·캐릭터가 사용 한도와 성공률·대성공률을 바꾼다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640080" y="4526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7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역할 구성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40080" y="4846320"/>
            <a:ext cx="475488" cy="475488"/>
          </a:xfrm>
          <a:prstGeom prst="ellipse">
            <a:avLst/>
          </a:prstGeom>
          <a:solidFill>
            <a:srgbClr val="35492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953305"/>
            <a:ext cx="261518" cy="26151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207008" y="48463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보안관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3246120" y="4846320"/>
            <a:ext cx="475488" cy="475488"/>
          </a:xfrm>
          <a:prstGeom prst="ellipse">
            <a:avLst/>
          </a:prstGeom>
          <a:solidFill>
            <a:srgbClr val="3C5A6B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3105" y="4953305"/>
            <a:ext cx="261518" cy="261518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3813048" y="48463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부관</a:t>
            </a:r>
            <a:endParaRPr lang="en-US" sz="1400" dirty="0"/>
          </a:p>
        </p:txBody>
      </p:sp>
      <p:sp>
        <p:nvSpPr>
          <p:cNvPr id="22" name="Shape 15"/>
          <p:cNvSpPr/>
          <p:nvPr/>
        </p:nvSpPr>
        <p:spPr>
          <a:xfrm>
            <a:off x="5852160" y="4846320"/>
            <a:ext cx="475488" cy="475488"/>
          </a:xfrm>
          <a:prstGeom prst="ellipse">
            <a:avLst/>
          </a:prstGeom>
          <a:solidFill>
            <a:srgbClr val="7A2E2E"/>
          </a:solidFill>
          <a:ln/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9145" y="4953305"/>
            <a:ext cx="261518" cy="26151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6419088" y="48463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무법자</a:t>
            </a:r>
            <a:endParaRPr lang="en-US" sz="1400" dirty="0"/>
          </a:p>
        </p:txBody>
      </p:sp>
      <p:sp>
        <p:nvSpPr>
          <p:cNvPr id="25" name="Shape 17"/>
          <p:cNvSpPr/>
          <p:nvPr/>
        </p:nvSpPr>
        <p:spPr>
          <a:xfrm>
            <a:off x="8458200" y="4846320"/>
            <a:ext cx="475488" cy="475488"/>
          </a:xfrm>
          <a:prstGeom prst="ellipse">
            <a:avLst/>
          </a:prstGeom>
          <a:solidFill>
            <a:srgbClr val="5C4A72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65185" y="4953305"/>
            <a:ext cx="261518" cy="261518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9025128" y="4846320"/>
            <a:ext cx="1965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배신자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BB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822960" y="2286000"/>
            <a:ext cx="27432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D973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III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822960" y="3063240"/>
            <a:ext cx="9601200" cy="10058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모드 — 함께, 또는 혼자</a:t>
            </a:r>
            <a:endParaRPr lang="en-US" sz="4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6E5E4D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함께, 또는 혼자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51560" y="1965960"/>
            <a:ext cx="777240" cy="777240"/>
          </a:xfrm>
          <a:prstGeom prst="ellipse">
            <a:avLst/>
          </a:prstGeom>
          <a:solidFill>
            <a:srgbClr val="7A2E2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2553" y="2136953"/>
            <a:ext cx="435254" cy="43525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2011680" y="19659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PvP — 4~7인 대결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051560" y="3017520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리슨서버 기반 온라인 대결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숨겨진 역할과 승리 조건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전원이 한 덱을 공유해 패를 추리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554480"/>
            <a:ext cx="5257800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675120" y="1965960"/>
            <a:ext cx="777240" cy="777240"/>
          </a:xfrm>
          <a:prstGeom prst="ellipse">
            <a:avLst/>
          </a:prstGeom>
          <a:solidFill>
            <a:srgbClr val="35492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6113" y="213695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635240" y="1965960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PvE — 나 홀로 토벌</a:t>
            </a:r>
            <a:endParaRPr lang="en-US" sz="1900" dirty="0"/>
          </a:p>
        </p:txBody>
      </p:sp>
      <p:sp>
        <p:nvSpPr>
          <p:cNvPr id="12" name="Text 8"/>
          <p:cNvSpPr txBox="1"/>
          <p:nvPr/>
        </p:nvSpPr>
        <p:spPr>
          <a:xfrm>
            <a:off x="6675120" y="3017520"/>
            <a:ext cx="4434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로그라이트식 조우(Encounter) 진행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조우 승리마다 장비 카드 보상</a:t>
            </a:r>
            <a:endParaRPr lang="en-US" sz="1500" dirty="0"/>
          </a:p>
          <a:p>
            <a:pPr algn="l" marL="342900" indent="-342900">
              <a:spcAft>
                <a:spcPts val="1000"/>
              </a:spcAft>
              <a:buSzPct val="100000"/>
              <a:buChar char="■"/>
            </a:pPr>
            <a:r>
              <a:rPr lang="en-US" sz="150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가 동료·적 역할을 대신한다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BB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원작 대비, 무엇을 다시 설계했나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5544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A76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원작의 제약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035040" y="15544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BAAM 의 재설계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120640" cy="704088"/>
          </a:xfrm>
          <a:prstGeom prst="roundRect">
            <a:avLst>
              <a:gd name="adj" fmla="val 10390"/>
            </a:avLst>
          </a:prstGeom>
          <a:solidFill>
            <a:srgbClr val="EADFC8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35040" y="2011680"/>
            <a:ext cx="5486400" cy="704088"/>
          </a:xfrm>
          <a:prstGeom prst="roundRect">
            <a:avLst>
              <a:gd name="adj" fmla="val 10390"/>
            </a:avLst>
          </a:prstGeom>
          <a:solidFill>
            <a:srgbClr val="FFF4E8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68680" y="2011680"/>
            <a:ext cx="4663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피해자가 응답 카드를 내야 진행되는 대기 구조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263640" y="2011680"/>
            <a:ext cx="5029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사용 즉시 서버가 결과를 확정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5120640" cy="704088"/>
          </a:xfrm>
          <a:prstGeom prst="roundRect">
            <a:avLst>
              <a:gd name="adj" fmla="val 10390"/>
            </a:avLst>
          </a:prstGeom>
          <a:solidFill>
            <a:srgbClr val="EADFC8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035040" y="2880360"/>
            <a:ext cx="5486400" cy="704088"/>
          </a:xfrm>
          <a:prstGeom prst="roundRect">
            <a:avLst>
              <a:gd name="adj" fmla="val 10390"/>
            </a:avLst>
          </a:prstGeom>
          <a:solidFill>
            <a:srgbClr val="FFF4E8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868680" y="2880360"/>
            <a:ext cx="4663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 수트로 판정하는 대면 전용 절차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880360"/>
            <a:ext cx="5029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수트 제거, 4단계 확률 판정으로 통합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3749040"/>
            <a:ext cx="5120640" cy="704088"/>
          </a:xfrm>
          <a:prstGeom prst="roundRect">
            <a:avLst>
              <a:gd name="adj" fmla="val 10390"/>
            </a:avLst>
          </a:prstGeom>
          <a:solidFill>
            <a:srgbClr val="EADFC8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3749040"/>
            <a:ext cx="5486400" cy="704088"/>
          </a:xfrm>
          <a:prstGeom prst="roundRect">
            <a:avLst>
              <a:gd name="adj" fmla="val 10390"/>
            </a:avLst>
          </a:prstGeom>
          <a:solidFill>
            <a:srgbClr val="FFF4E8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68680" y="3749040"/>
            <a:ext cx="466344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좌석 거리·사거리 계산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263640" y="3749040"/>
            <a:ext cx="502920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1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거리 개념 제거 — 빌드·대상 선택에 집중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D973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같은 규칙 위에, 시네마틱 연출로 정적인 보드게임의 인상을 바꾼다 — 이 프로젝트의 차별점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BB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기술 스택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210312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76756" y="2468880"/>
            <a:ext cx="868680" cy="868680"/>
          </a:xfrm>
          <a:prstGeom prst="ellipse">
            <a:avLst/>
          </a:prstGeom>
          <a:solidFill>
            <a:srgbClr val="D9731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67866" y="2659990"/>
            <a:ext cx="486461" cy="486461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35661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Unreal Engine 5.8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06908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5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코어 엔진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3456432" y="210312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93108" y="2468880"/>
            <a:ext cx="868680" cy="86868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4218" y="2659990"/>
            <a:ext cx="486461" cy="486461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56432" y="35661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593592" y="406908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5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카드·효과·어트리뷰트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272784" y="210312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09460" y="2468880"/>
            <a:ext cx="868680" cy="868680"/>
          </a:xfrm>
          <a:prstGeom prst="ellipse">
            <a:avLst/>
          </a:prstGeom>
          <a:solidFill>
            <a:srgbClr val="3C5A6B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0570" y="2659990"/>
            <a:ext cx="486461" cy="486461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72784" y="35661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리슨서버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09944" y="406908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5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서버 권위 판정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089136" y="2103120"/>
            <a:ext cx="2542032" cy="2834640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925812" y="2468880"/>
            <a:ext cx="868680" cy="868680"/>
          </a:xfrm>
          <a:prstGeom prst="ellipse">
            <a:avLst/>
          </a:prstGeom>
          <a:solidFill>
            <a:srgbClr val="35492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6922" y="2659990"/>
            <a:ext cx="486461" cy="486461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9089136" y="3566160"/>
            <a:ext cx="25420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Steam OSS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9226296" y="4069080"/>
            <a:ext cx="22677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E5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온라인 세션/매치메이킹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BB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457200"/>
            <a:ext cx="960120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팀 소개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37260" y="1828800"/>
            <a:ext cx="1371600" cy="1371600"/>
          </a:xfrm>
          <a:prstGeom prst="ellipse">
            <a:avLst/>
          </a:prstGeom>
          <a:solidFill>
            <a:srgbClr val="EADFC8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37260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[사진]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[이름 1]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5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[담당 역할]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104388" y="1828800"/>
            <a:ext cx="1371600" cy="1371600"/>
          </a:xfrm>
          <a:prstGeom prst="ellipse">
            <a:avLst/>
          </a:prstGeom>
          <a:solidFill>
            <a:srgbClr val="EADFC8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104388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[사진]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2807208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[이름 2]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807208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5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[담당 역할]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271516" y="1828800"/>
            <a:ext cx="1371600" cy="1371600"/>
          </a:xfrm>
          <a:prstGeom prst="ellipse">
            <a:avLst/>
          </a:prstGeom>
          <a:solidFill>
            <a:srgbClr val="EADFC8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71516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[사진]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974336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[이름 3]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974336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5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[담당 역할]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438644" y="1828800"/>
            <a:ext cx="1371600" cy="1371600"/>
          </a:xfrm>
          <a:prstGeom prst="ellipse">
            <a:avLst/>
          </a:prstGeom>
          <a:solidFill>
            <a:srgbClr val="EADFC8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38644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[사진]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7141464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[이름 4]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141464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5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[담당 역할]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605772" y="1828800"/>
            <a:ext cx="1371600" cy="1371600"/>
          </a:xfrm>
          <a:prstGeom prst="ellipse">
            <a:avLst/>
          </a:prstGeom>
          <a:solidFill>
            <a:srgbClr val="EADFC8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5772" y="18288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B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[사진]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308592" y="338328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A1B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[이름 5]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9308592" y="3703320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5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[담당 역할]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C9BBA6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514600"/>
            <a:ext cx="8961120" cy="12801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703320"/>
            <a:ext cx="859536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0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&amp; A</a:t>
            </a: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6126480"/>
            <a:ext cx="8961120" cy="3657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200" dirty="0">
                <a:solidFill>
                  <a:srgbClr val="9B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[빌드/플레이 영상 링크]   ·   GitHub: NBcampUnrealTrack/8th-Team3-Final-Project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052560" y="1005840"/>
            <a:ext cx="2743200" cy="2743200"/>
          </a:xfrm>
          <a:prstGeom prst="ellipse">
            <a:avLst/>
          </a:prstGeom>
          <a:solidFill>
            <a:srgbClr val="D9731E">
              <a:alpha val="1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646920" y="1600200"/>
            <a:ext cx="1554480" cy="1554480"/>
          </a:xfrm>
          <a:prstGeom prst="ellipse">
            <a:avLst/>
          </a:prstGeom>
          <a:solidFill>
            <a:srgbClr val="D9731E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16" y="1911096"/>
            <a:ext cx="932688" cy="9326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AAM Campfire">
  <a:themeElements>
    <a:clrScheme name="BAAM Campfire">
      <a:dk1>
        <a:srgbClr val="2A1B12"/>
      </a:dk1>
      <a:lt1>
        <a:srgbClr val="FFFFFF"/>
      </a:lt1>
      <a:dk2>
        <a:srgbClr val="1C120B"/>
      </a:dk2>
      <a:lt2>
        <a:srgbClr val="EADFC8"/>
      </a:lt2>
      <a:accent1>
        <a:srgbClr val="D9731E"/>
      </a:accent1>
      <a:accent2>
        <a:srgbClr val="E8A33D"/>
      </a:accent2>
      <a:accent3>
        <a:srgbClr val="7A2E2E"/>
      </a:accent3>
      <a:accent4>
        <a:srgbClr val="3C5A6B"/>
      </a:accent4>
      <a:accent5>
        <a:srgbClr val="5C4A72"/>
      </a:accent5>
      <a:accent6>
        <a:srgbClr val="35492F"/>
      </a:accent6>
      <a:hlink>
        <a:srgbClr val="D9731E"/>
      </a:hlink>
      <a:folHlink>
        <a:srgbClr val="E8A33D"/>
      </a:folHlink>
    </a:clrScheme>
    <a:fontScheme name="BAAM Campfir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2026-10-13T03:11:44Z</dcterms:created>
  <dcterms:modified xsi:type="dcterms:W3CDTF">2026-10-13T03:11:44Z</dcterms:modified>
</cp:coreProperties>
</file>